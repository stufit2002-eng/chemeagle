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109728"/>
            <a:ext cx="3227832" cy="6638544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ChemEAGLE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8CAE4"/>
                </a:solidFill>
              </a:rPr>
              <a:t>Multi-Agent Chemical Reaction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Pipeline Architecture  ·  Agent Roles  ·  Failure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6459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A500"/>
                </a:solidFill>
              </a:rPr>
              <a:t>10 Failure
Modes
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5 Pipeline
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D9A9"/>
                </a:solidFill>
              </a:rPr>
              <a:t>4 Execution
Paths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What ChemEAGLE does and how it fits into a research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5120640"/>
          </a:xfrm>
          <a:prstGeom prst="rect">
            <a:avLst/>
          </a:prstGeom>
          <a:solidFill>
            <a:srgbClr val="16243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33832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PDF files or
individual
reaction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Florence-2 OD detects
figures &amp; tables;
crops exported as 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657600" cy="5120640"/>
          </a:xfrm>
          <a:prstGeom prst="rect">
            <a:avLst/>
          </a:prstGeom>
          <a:solidFill>
            <a:srgbClr val="16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33832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5-stage multi-agent
pipeline extracts
chemical reactions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0040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LLM planner → specialist
tools (RxnIM, MolNexTR,
OCR) → LLM synthesizer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657600" cy="5120640"/>
          </a:xfrm>
          <a:prstGeom prst="rect">
            <a:avLst/>
          </a:prstGeom>
          <a:solidFill>
            <a:srgbClr val="16243E"/>
          </a:solidFill>
          <a:ln w="25400">
            <a:solidFill>
              <a:srgbClr val="38D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D9A9"/>
                </a:solidFill>
              </a:rPr>
              <a:t>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645920"/>
            <a:ext cx="3383280" cy="27432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Structured JSON:
reactants, products,
conditions, SMILES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20040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Machine-readable reaction
database ready for
downstream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8CAE4"/>
                </a:solidFill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8CAE4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Agents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Every component involved in the extraction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2048255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078992"/>
            <a:ext cx="2231136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11556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Model /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78992"/>
            <a:ext cx="1408176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11556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78992"/>
            <a:ext cx="4974336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11556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81328"/>
            <a:ext cx="11494008" cy="365760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527048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PDF Extractor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15270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VisualHeist / Florence-2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52704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Vision 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52704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Detects &amp; crops all figures from PDF pages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883664"/>
            <a:ext cx="11494008" cy="365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1929384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1929384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19293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Multimodal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929384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Classifies image type; selects which agents to 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86000"/>
            <a:ext cx="11494008" cy="365760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2331720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Plan Observer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331720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233172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Multimodal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331720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Second-opinion sanity check on the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88336"/>
            <a:ext cx="11494008" cy="365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2734056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Reaction 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2734056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RxnIM  (rxn.ckpt)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273405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Specialist CV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734056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Detects reaction arrows; maps reactant/product regions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90672"/>
            <a:ext cx="11494008" cy="365760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3136391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Molecule Detector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3136391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ChemIEToolkit MolDetector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3136391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Specialist CV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136391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Localises individual molecules within a scheme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493008"/>
            <a:ext cx="11494008" cy="365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3538728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SMILES Generator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353872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MolNexTR  (molnextr.ckpt)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35387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Graph Neural Net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353872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Image→graph→SMILES for each molecule crop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895344"/>
            <a:ext cx="11494008" cy="365760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" y="3941063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Table Parser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" y="3941063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TableParser + TesseractOCR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8888" y="3941063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OCR / layout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3941063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Extracts R-group substitution tables from images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297680"/>
            <a:ext cx="11494008" cy="365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" y="4343400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Text NLP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7168" y="4343400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ChemRxnExtractor + ChemNER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8888" y="434340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BioBERT NLP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4343400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Extracts reactions &amp; named entities from caption text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700016"/>
            <a:ext cx="11494008" cy="365760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8" y="4745736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Condition Classifier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87168" y="4745736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8888" y="47457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7648" y="4745736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Assigns solvent / reagent / catalyst roles to conditions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102352"/>
            <a:ext cx="11494008" cy="3657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8" y="5148072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Action Observer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87168" y="5148072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514807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Multimodal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5148072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Validates tool outputs; signals redo if results are bad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504688"/>
            <a:ext cx="11494008" cy="365760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8" y="5550408"/>
            <a:ext cx="19933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Data Structurer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7168" y="555040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18888" y="555040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LLM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7648" y="5550408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Assembles final JSON; converts abbreviations to SMILES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Pipeline: Stages 1 –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Input ingestion → Planning → Plan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657600" cy="5166360"/>
          </a:xfrm>
          <a:prstGeom prst="rect">
            <a:avLst/>
          </a:prstGeom>
          <a:solidFill>
            <a:srgbClr val="16243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52144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STAGE 0
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847088"/>
            <a:ext cx="3438144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3852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PDF → VisualHeist (Florence-2 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59689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Crops ALL figures to 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255264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Direct image input also 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097280"/>
            <a:ext cx="3657600" cy="5166360"/>
          </a:xfrm>
          <a:prstGeom prst="rect">
            <a:avLst/>
          </a:prstGeom>
          <a:solidFill>
            <a:srgbClr val="16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152144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STAGE 1
Planner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47088"/>
            <a:ext cx="3438144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93852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Multimodal LLM sees the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59689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Classifies: reaction / R-group table /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255264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Selects which tool agents to invoke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913632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Output: ordered agent_list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097280"/>
            <a:ext cx="3657600" cy="5166360"/>
          </a:xfrm>
          <a:prstGeom prst="rect">
            <a:avLst/>
          </a:prstGeom>
          <a:solidFill>
            <a:srgbClr val="16243E"/>
          </a:solidFill>
          <a:ln w="254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1152144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8CAE4"/>
                </a:solidFill>
              </a:rPr>
              <a:t>STAGE 2
Plan Observer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0727" y="1847088"/>
            <a:ext cx="3438144" cy="2743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1938528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Second LLM reviews the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59689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Can revise or confirm agent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3255264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Uses same model → shared blind spots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3913632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Disabled by default in OS mode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327648"/>
            <a:ext cx="11503152" cy="384048"/>
          </a:xfrm>
          <a:prstGeom prst="rect">
            <a:avLst/>
          </a:prstGeom>
          <a:solidFill>
            <a:srgbClr val="3D1A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45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500"/>
                </a:solidFill>
              </a:rPr>
              <a:t>⚠  Key risk: both Planner and Plan Observer use the same LLM — a misclassification in Stage 1 is rarely caught in Stage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Pipeline: Stage 3 — Tool Executor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Four specialist paths; selected by the Planner's agent_list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2852928" cy="5577840"/>
          </a:xfrm>
          <a:prstGeom prst="rect">
            <a:avLst/>
          </a:prstGeom>
          <a:solidFill>
            <a:srgbClr val="16243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15568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PATH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63040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C4DE"/>
                </a:solidFill>
              </a:rPr>
              <a:t>Reaction 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2670048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93852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RxnIM detects arrow + regions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71576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MolDetector localises molecules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349300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MolNexTR → SMILES per crop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427024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LLM classifies condition 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078992"/>
            <a:ext cx="2852928" cy="5577840"/>
          </a:xfrm>
          <a:prstGeom prst="rect">
            <a:avLst/>
          </a:prstGeom>
          <a:solidFill>
            <a:srgbClr val="16243E"/>
          </a:solidFill>
          <a:ln w="25400">
            <a:solidFill>
              <a:srgbClr val="38D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115568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D9A9"/>
                </a:solidFill>
              </a:rPr>
              <a:t>PATH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1463040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C4DE"/>
                </a:solidFill>
              </a:rPr>
              <a:t>Structure-based R-groups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847088"/>
            <a:ext cx="2670048" cy="27432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93852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PATH A first to get scaffold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271576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Each variant panel → MolNexTR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349300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normalize_product_variant_output()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427024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Scaffold + R substituents merged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078992"/>
            <a:ext cx="2852928" cy="5577840"/>
          </a:xfrm>
          <a:prstGeom prst="rect">
            <a:avLst/>
          </a:prstGeom>
          <a:solidFill>
            <a:srgbClr val="16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115568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A500"/>
                </a:solidFill>
              </a:rPr>
              <a:t>PATH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463040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C4DE"/>
                </a:solidFill>
              </a:rPr>
              <a:t>Table-based R-groups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847088"/>
            <a:ext cx="2670048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93852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PATH A for scaffold SMILES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71576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TableParser detects table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49300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TesseractOCR reads each 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27024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LLM maps cells to R positions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1078992"/>
            <a:ext cx="2852928" cy="5577840"/>
          </a:xfrm>
          <a:prstGeom prst="rect">
            <a:avLst/>
          </a:prstGeom>
          <a:solidFill>
            <a:srgbClr val="16243E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54312" y="1115568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C4DE"/>
                </a:solidFill>
              </a:rPr>
              <a:t>PATH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1463040"/>
            <a:ext cx="2706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C4DE"/>
                </a:solidFill>
              </a:rPr>
              <a:t>Text Extraction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1847088"/>
            <a:ext cx="2670048" cy="2743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9176" y="193852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TesseractOCR on image caption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271576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ChemRxnExtractor (BioBERT NLP)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349300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ChemNER identifies entities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4270248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Structured text reaction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675120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Paths can be combined — e.g. PATH A + PATH C for a reaction with an R-group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Pipeline: Stages 4 –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Validation → Final structured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394960" cy="5120640"/>
          </a:xfrm>
          <a:prstGeom prst="rect">
            <a:avLst/>
          </a:prstGeom>
          <a:solidFill>
            <a:srgbClr val="16243E"/>
          </a:solidFill>
          <a:ln w="254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521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CAE4"/>
                </a:solidFill>
              </a:rPr>
              <a:t>STAGE 4 — Action Observer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72768"/>
            <a:ext cx="5120640" cy="2743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6420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2257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Image + all tool execution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8094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8094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Validate results; flag errors; signal redo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3931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{"redo": true/false, "reason": "..."}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</a:rPr>
              <a:t>Disabled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97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By default in ChemEagle_OS()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5303520" cy="914400"/>
          </a:xfrm>
          <a:prstGeom prst="rect">
            <a:avLst/>
          </a:prstGeom>
          <a:solidFill>
            <a:srgbClr val="3D1A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⚠  Architectural gap: orchestrator returns {"redo":True} and exits.
   The caller must implement the retry loop — the README does not.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520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097280"/>
            <a:ext cx="5486400" cy="5120640"/>
          </a:xfrm>
          <a:prstGeom prst="rect">
            <a:avLst/>
          </a:prstGeom>
          <a:solidFill>
            <a:srgbClr val="16243E"/>
          </a:solidFill>
          <a:ln w="25400">
            <a:solidFill>
              <a:srgbClr val="38D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1521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D9A9"/>
                </a:solidFill>
              </a:rPr>
              <a:t>STAGE 5 — Data Structure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572768"/>
            <a:ext cx="5212080" cy="27432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642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A9"/>
                </a:solidFill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66420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GPT-4o-mini / Qwen3-VL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22576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A9"/>
                </a:solidFill>
              </a:rPr>
              <a:t>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32257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prompt_final_simple_version.txt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980944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A9"/>
                </a:solidFill>
              </a:rPr>
              <a:t>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98094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Merge all tool outputs into one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39312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A9"/>
                </a:solidFill>
              </a:rPr>
              <a:t>Converts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63931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Abbreviations → SMILES (from LLM memory)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976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A9"/>
                </a:solidFill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297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{"reactions": [ {reactants, products,
  conditions, SMILES} ]}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89120"/>
            <a:ext cx="5394960" cy="914400"/>
          </a:xfrm>
          <a:prstGeom prst="rect">
            <a:avLst/>
          </a:prstGeom>
          <a:solidFill>
            <a:srgbClr val="0A2A1A"/>
          </a:solidFill>
          <a:ln w="12700">
            <a:solidFill>
              <a:srgbClr val="38D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43484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D9A9"/>
                </a:solidFill>
              </a:rPr>
              <a:t>Final output is used directly for downstream cheminformatics,
reaction database population, or retrosynthesis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Mode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10 identified failure modes mapped to pipeline stage and primary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11658600" cy="3931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17043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170432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Primary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170432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Primary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1704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536192"/>
            <a:ext cx="11658600" cy="3931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5910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591056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3D / Stereo structures 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9105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591056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MolNexTR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1600200"/>
            <a:ext cx="914400" cy="265176"/>
          </a:xfrm>
          <a:prstGeom prst="rect">
            <a:avLst/>
          </a:prstGeom>
          <a:solidFill>
            <a:srgbClr val="3F131B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16093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D6D"/>
                </a:solidFill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956816"/>
            <a:ext cx="11658600" cy="393192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011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2011680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Complex graphics misclassified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011680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11680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Planner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12096" y="2020824"/>
            <a:ext cx="914400" cy="265176"/>
          </a:xfrm>
          <a:prstGeom prst="rect">
            <a:avLst/>
          </a:prstGeom>
          <a:solidFill>
            <a:srgbClr val="3F131B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12096" y="2029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D6D"/>
                </a:solidFill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377440"/>
            <a:ext cx="11658600" cy="3931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4323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243230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Non-chem PDFs included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432304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PDF 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432304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VisualHeist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12096" y="2441448"/>
            <a:ext cx="914400" cy="265176"/>
          </a:xfrm>
          <a:prstGeom prst="rect">
            <a:avLst/>
          </a:prstGeom>
          <a:solidFill>
            <a:srgbClr val="3F131B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12096" y="2450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D6D"/>
                </a:solidFill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798064"/>
            <a:ext cx="11658600" cy="393192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852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2852928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R-group agent mispicked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2852928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2852928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Planner LLM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12096" y="2862072"/>
            <a:ext cx="914400" cy="265176"/>
          </a:xfrm>
          <a:prstGeom prst="rect">
            <a:avLst/>
          </a:prstGeom>
          <a:solidFill>
            <a:srgbClr val="3F29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12096" y="28712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3218688"/>
            <a:ext cx="11658600" cy="3931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2735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327355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Multi-step reactions merged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3273552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273552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RxnIM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12096" y="3282696"/>
            <a:ext cx="914400" cy="265176"/>
          </a:xfrm>
          <a:prstGeom prst="rect">
            <a:avLst/>
          </a:prstGeom>
          <a:solidFill>
            <a:srgbClr val="3F29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12096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3639312"/>
            <a:ext cx="11658600" cy="393192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6941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" y="3694176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Abbreviation SMILES hallucinated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36941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3 &amp;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3694176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LLM (no validation)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12096" y="3703320"/>
            <a:ext cx="914400" cy="265176"/>
          </a:xfrm>
          <a:prstGeom prst="rect">
            <a:avLst/>
          </a:prstGeom>
          <a:solidFill>
            <a:srgbClr val="3F131B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12096" y="37124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D6D"/>
                </a:solidFill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" y="4059936"/>
            <a:ext cx="11658600" cy="3931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11480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4114800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Redo signal never executes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4114800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4114800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12096" y="4123944"/>
            <a:ext cx="914400" cy="265176"/>
          </a:xfrm>
          <a:prstGeom prst="rect">
            <a:avLst/>
          </a:prstGeom>
          <a:solidFill>
            <a:srgbClr val="3F29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12096" y="4133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" y="4480560"/>
            <a:ext cx="11658600" cy="393192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535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" y="453542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OCR quality degradation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4840" y="4535424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4535424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TesseractOCR / TableParser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12096" y="4544568"/>
            <a:ext cx="914400" cy="265176"/>
          </a:xfrm>
          <a:prstGeom prst="rect">
            <a:avLst/>
          </a:prstGeom>
          <a:solidFill>
            <a:srgbClr val="3F29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12096" y="4553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4901184"/>
            <a:ext cx="11658600" cy="393192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9560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" y="4956048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NLP domain mismatch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34840" y="4956048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0840" y="4956048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ChemRxnExtractor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12096" y="4965192"/>
            <a:ext cx="914400" cy="265176"/>
          </a:xfrm>
          <a:prstGeom prst="rect">
            <a:avLst/>
          </a:prstGeom>
          <a:solidFill>
            <a:srgbClr val="0E362A"/>
          </a:solidFill>
          <a:ln w="12700">
            <a:solidFill>
              <a:srgbClr val="38D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12096" y="49743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D9A9"/>
                </a:solidFill>
              </a:rPr>
              <a:t>LOW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" y="5321808"/>
            <a:ext cx="11658600" cy="393192"/>
          </a:xfrm>
          <a:prstGeom prst="rect">
            <a:avLst/>
          </a:prstGeom>
          <a:solidFill>
            <a:srgbClr val="1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5376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" y="537667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Label absorbed into crop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34840" y="5376672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20840" y="5376672"/>
            <a:ext cx="3072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MolDetector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12096" y="5385816"/>
            <a:ext cx="914400" cy="265176"/>
          </a:xfrm>
          <a:prstGeom prst="rect">
            <a:avLst/>
          </a:prstGeom>
          <a:solidFill>
            <a:srgbClr val="0E362A"/>
          </a:solidFill>
          <a:ln w="12700">
            <a:solidFill>
              <a:srgbClr val="38D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12096" y="5394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D9A9"/>
                </a:solidFill>
              </a:rPr>
              <a:t>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Top 5 Critical Failures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The failures with the broadest impact across all pipeline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577840" cy="2331720"/>
          </a:xfrm>
          <a:prstGeom prst="rect">
            <a:avLst/>
          </a:prstGeom>
          <a:solidFill>
            <a:srgbClr val="16243E"/>
          </a:solidFill>
          <a:ln w="254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70432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#1 — 3D/Stereo (MolNexTR)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508760"/>
            <a:ext cx="537667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MolNexTR is trained on 2D Kekulé structures only. Wedge/dash bonds are treated as regular bonds; all stereocenters are silently erased. Every pipeline path routes through MolNexTR, so stereo loss is universal.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577840" cy="2331720"/>
          </a:xfrm>
          <a:prstGeom prst="rect">
            <a:avLst/>
          </a:prstGeom>
          <a:solidFill>
            <a:srgbClr val="16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170432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#3 — Non-chem PDF images (VisualHeist)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508760"/>
            <a:ext cx="537667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Florence-2 OD extracts ALL figures with no chemistry filter. Every photograph, spectrum, and gel in a journal PDF enters the full pipeline, burning compute and generating garbage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20439"/>
            <a:ext cx="5577840" cy="2331720"/>
          </a:xfrm>
          <a:prstGeom prst="rect">
            <a:avLst/>
          </a:prstGeom>
          <a:solidFill>
            <a:srgbClr val="16243E"/>
          </a:solidFill>
          <a:ln w="254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593591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#6 — Abbreviation hallucination (LLM)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931920"/>
            <a:ext cx="537667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The Data Structure Agent prompt explicitly instructs 'convert to SMILES from your knowledge'. No RDKit valence check or InChI roundtrip validates the output — invalid SMILES reach the final JSON silently.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520439"/>
            <a:ext cx="5577840" cy="2331720"/>
          </a:xfrm>
          <a:prstGeom prst="rect">
            <a:avLst/>
          </a:prstGeom>
          <a:solidFill>
            <a:srgbClr val="16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93591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#2 — Complex graphics (Planner LLM)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931920"/>
            <a:ext cx="537667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Mechanism arrows, spectral baselines, and flow-chart arrows all resemble reaction arrows. The Planner misclassifies the image and the Plan Observer (same model, same image) typically agrees.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11521440" cy="850392"/>
          </a:xfrm>
          <a:prstGeom prst="rect">
            <a:avLst/>
          </a:prstGeom>
          <a:solidFill>
            <a:srgbClr val="16243E"/>
          </a:solidFill>
          <a:ln w="254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6016752"/>
            <a:ext cx="11320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#7 — Redo loop never fires (Orchestrator)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6355080"/>
            <a:ext cx="113202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When the Action Observer flags a bad result it returns {"redo":True}, but the orchestrator immediately returns this dict to the caller and exits. The retry loop is the caller's responsibility; the README example omits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Impact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Severity (x-axis) vs. Frequency (y-axis) — bigger = broader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188720"/>
            <a:ext cx="10424160" cy="5257800"/>
          </a:xfrm>
          <a:prstGeom prst="rect">
            <a:avLst/>
          </a:prstGeom>
          <a:solidFill>
            <a:srgbClr val="0D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HIGH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309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LOW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492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LOW SEVERITY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</a:rPr>
              <a:t>HIGH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170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78"/>
                </a:solidFill>
              </a:rP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254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78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4D6D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Low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Fix Soon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27432" cy="5257800"/>
          </a:xfrm>
          <a:prstGeom prst="rect">
            <a:avLst/>
          </a:prstGeom>
          <a:solidFill>
            <a:srgbClr val="4A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3822191"/>
            <a:ext cx="10424160" cy="27432"/>
          </a:xfrm>
          <a:prstGeom prst="rect">
            <a:avLst/>
          </a:prstGeom>
          <a:solidFill>
            <a:srgbClr val="4A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81944" y="1508759"/>
            <a:ext cx="402336" cy="20116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51592" y="12618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4D6D"/>
                </a:solidFill>
              </a:rPr>
              <a:t>#1 Stereo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52252" y="1719072"/>
            <a:ext cx="402336" cy="20116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1900" y="14721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4D6D"/>
                </a:solidFill>
              </a:rPr>
              <a:t>#6 Abbrev SMILES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7112" y="1876805"/>
            <a:ext cx="402336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62991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500"/>
                </a:solidFill>
              </a:rPr>
              <a:t>#3 Non-chem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75903" y="2928365"/>
            <a:ext cx="402336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1" y="268147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500"/>
                </a:solidFill>
              </a:rPr>
              <a:t>#2 Complex gfx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191256"/>
            <a:ext cx="402336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29443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500"/>
                </a:solidFill>
              </a:rPr>
              <a:t>#5 Multi-step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3086100"/>
            <a:ext cx="402336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28392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500"/>
                </a:solidFill>
              </a:rPr>
              <a:t>#8 OCR quality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4768596"/>
            <a:ext cx="402336" cy="20116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5217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8CAE4"/>
                </a:solidFill>
              </a:rPr>
              <a:t>#7 Redo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9864" y="4505705"/>
            <a:ext cx="402336" cy="20116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9512" y="425881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8CAE4"/>
                </a:solidFill>
              </a:rPr>
              <a:t>#4 R-group pick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5032" y="4873751"/>
            <a:ext cx="402336" cy="201168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4626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D9A9"/>
                </a:solidFill>
              </a:rPr>
              <a:t>#9 NLP mismatch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27448" y="5294375"/>
            <a:ext cx="402336" cy="201168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97096" y="50474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D9A9"/>
                </a:solidFill>
              </a:rPr>
              <a:t>#10 Label crop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Prioritised actions to improve pipeline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784848"/>
            <a:ext cx="9144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ChemEAGLE  |  Pipeline &amp; Failure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57200" cy="6858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143000"/>
            <a:ext cx="11064240" cy="1005840"/>
          </a:xfrm>
          <a:prstGeom prst="rect">
            <a:avLst/>
          </a:prstGeom>
          <a:solidFill>
            <a:srgbClr val="16243E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957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Replace or retrain MolNexTR with a stereo-aware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4533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Use RXN-BERT, DECIMER, or Img2Mol trained on 3D/stereo structures. Add post-processing to re-read wedge/dash bonds from original crop.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457200" cy="6858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317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40280"/>
            <a:ext cx="11064240" cy="1005840"/>
          </a:xfrm>
          <a:prstGeom prst="rect">
            <a:avLst/>
          </a:prstGeom>
          <a:solidFill>
            <a:srgbClr val="16243E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7685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Add SMILES validation at every output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4261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Run RDKit valence check + InChI roundtrip on all generated SMILES. Reject and flag any string that fails rather than passing it silently.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457200" cy="685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4290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11064240" cy="1005840"/>
          </a:xfrm>
          <a:prstGeom prst="rect">
            <a:avLst/>
          </a:prstGeom>
          <a:solidFill>
            <a:srgbClr val="1624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741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Insert a chemistry-content classifier before ChemEAGLE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3989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Fine-tune a lightweight ViT or CLIP model to label crops as 'reaction scheme / R-group table / text / other'. Skip non-chemistry images.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79"/>
            <a:ext cx="457200" cy="685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526279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34840"/>
            <a:ext cx="11064240" cy="1005840"/>
          </a:xfrm>
          <a:prstGeom prst="rect">
            <a:avLst/>
          </a:prstGeom>
          <a:solidFill>
            <a:srgbClr val="1624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7141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Implement the Action Observer retry loop in the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3717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Move retry logic inside main.py. Expose max_retries param. Enable action observer by default in ChemEagle_OS().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623559"/>
            <a:ext cx="457200" cy="6858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623559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532120"/>
            <a:ext cx="11064240" cy="1005840"/>
          </a:xfrm>
          <a:prstGeom prst="rect">
            <a:avLst/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686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Replace TesseractOCR with chemistry-aware OCR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344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Use DECIMER-Segmentation + MolScribe for structure detection; use Nougat or GROBID for formula-aware text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